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60" r:id="rId4"/>
    <p:sldId id="258" r:id="rId5"/>
    <p:sldId id="270" r:id="rId6"/>
    <p:sldId id="261" r:id="rId7"/>
    <p:sldId id="345" r:id="rId8"/>
    <p:sldId id="346" r:id="rId9"/>
    <p:sldId id="312" r:id="rId10"/>
    <p:sldId id="297" r:id="rId11"/>
    <p:sldId id="401" r:id="rId12"/>
    <p:sldId id="402" r:id="rId13"/>
    <p:sldId id="403" r:id="rId14"/>
    <p:sldId id="298" r:id="rId15"/>
    <p:sldId id="406" r:id="rId16"/>
    <p:sldId id="405" r:id="rId17"/>
    <p:sldId id="407" r:id="rId18"/>
    <p:sldId id="408" r:id="rId19"/>
    <p:sldId id="356" r:id="rId20"/>
    <p:sldId id="350" r:id="rId21"/>
    <p:sldId id="398" r:id="rId22"/>
    <p:sldId id="397" r:id="rId23"/>
    <p:sldId id="409" r:id="rId24"/>
    <p:sldId id="361" r:id="rId25"/>
    <p:sldId id="265" r:id="rId26"/>
    <p:sldId id="367" r:id="rId27"/>
    <p:sldId id="410" r:id="rId28"/>
    <p:sldId id="411" r:id="rId29"/>
    <p:sldId id="266" r:id="rId30"/>
    <p:sldId id="342" r:id="rId31"/>
    <p:sldId id="335" r:id="rId32"/>
    <p:sldId id="413" r:id="rId33"/>
    <p:sldId id="340" r:id="rId34"/>
  </p:sldIdLst>
  <p:sldSz cx="9144000" cy="5143500" type="screen16x9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77580" autoAdjust="0"/>
  </p:normalViewPr>
  <p:slideViewPr>
    <p:cSldViewPr>
      <p:cViewPr varScale="1">
        <p:scale>
          <a:sx n="97" d="100"/>
          <a:sy n="97" d="100"/>
        </p:scale>
        <p:origin x="54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E1F13-8E75-4A3C-8E30-6E33A3B63A0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83344-3D0A-485F-804A-CCD3978C46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83344-3D0A-485F-804A-CCD3978C46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94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83344-3D0A-485F-804A-CCD3978C46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87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A83344-3D0A-485F-804A-CCD3978C46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71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83344-3D0A-485F-804A-CCD3978C46A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69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6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2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4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3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2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6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0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0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3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6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9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26997-CA18-418F-A41B-9B28804BDDF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FF047-E4A5-4EB7-881F-83479F4FC6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3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lactalab.ucuenca.edu.ec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059582"/>
            <a:ext cx="7772400" cy="1800200"/>
          </a:xfrm>
        </p:spPr>
        <p:txBody>
          <a:bodyPr>
            <a:normAutofit/>
          </a:bodyPr>
          <a:lstStyle/>
          <a:p>
            <a:r>
              <a:rPr lang="en-US" sz="3400" b="1" dirty="0"/>
              <a:t>Classification of means of transport </a:t>
            </a:r>
            <a:r>
              <a:rPr lang="en-US" sz="3400" b="1" dirty="0" smtClean="0"/>
              <a:t>using machine</a:t>
            </a:r>
            <a:r>
              <a:rPr lang="en-US" sz="3400" b="1" dirty="0"/>
              <a:t> </a:t>
            </a:r>
            <a:r>
              <a:rPr lang="en-US" sz="3400" b="1" dirty="0" smtClean="0"/>
              <a:t>learning techniques</a:t>
            </a:r>
            <a:endParaRPr lang="en-US" sz="3400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129508"/>
            <a:ext cx="7920880" cy="1890514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 smtClean="0">
                <a:solidFill>
                  <a:schemeClr val="tx1"/>
                </a:solidFill>
              </a:rPr>
              <a:t>Santiago Alexander Ajala Ramos</a:t>
            </a:r>
            <a:endParaRPr lang="en-US" sz="26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000" b="1" dirty="0" smtClean="0">
                <a:solidFill>
                  <a:schemeClr val="tx1"/>
                </a:solidFill>
              </a:rPr>
              <a:t>Professor: </a:t>
            </a:r>
            <a:r>
              <a:rPr lang="en-US" sz="2000" dirty="0" smtClean="0">
                <a:solidFill>
                  <a:schemeClr val="tx1"/>
                </a:solidFill>
              </a:rPr>
              <a:t>Israel Pineda</a:t>
            </a:r>
            <a:r>
              <a:rPr lang="es-EC" sz="2000" dirty="0" smtClean="0">
                <a:solidFill>
                  <a:schemeClr val="tx1"/>
                </a:solidFill>
              </a:rPr>
              <a:t>. </a:t>
            </a:r>
            <a:r>
              <a:rPr lang="es-EC" sz="2000" dirty="0">
                <a:solidFill>
                  <a:schemeClr val="tx1"/>
                </a:solidFill>
              </a:rPr>
              <a:t/>
            </a:r>
            <a:br>
              <a:rPr lang="es-EC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endParaRPr lang="pt-BR" sz="2000" dirty="0">
              <a:solidFill>
                <a:schemeClr val="tx1"/>
              </a:solidFill>
            </a:endParaRPr>
          </a:p>
          <a:p>
            <a:r>
              <a:rPr lang="pt-B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May 3, 2025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pt-BR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4" t="20042" r="20422" b="20506"/>
          <a:stretch/>
        </p:blipFill>
        <p:spPr>
          <a:xfrm>
            <a:off x="6868391" y="238991"/>
            <a:ext cx="2005445" cy="696192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2" b="12068"/>
          <a:stretch/>
        </p:blipFill>
        <p:spPr>
          <a:xfrm>
            <a:off x="179512" y="238991"/>
            <a:ext cx="2903116" cy="69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1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5185" y="41151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9947" y="1275606"/>
            <a:ext cx="8229600" cy="31029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Conclusions and Future </a:t>
            </a:r>
            <a:r>
              <a:rPr lang="en-US" dirty="0" smtClean="0"/>
              <a:t>Work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5 CuadroTexto"/>
          <p:cNvSpPr txBox="1"/>
          <p:nvPr/>
        </p:nvSpPr>
        <p:spPr>
          <a:xfrm>
            <a:off x="8388424" y="473199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2/32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|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Yachay Tech University</a:t>
            </a:r>
          </a:p>
        </p:txBody>
      </p:sp>
    </p:spTree>
    <p:extLst>
      <p:ext uri="{BB962C8B-B14F-4D97-AF65-F5344CB8AC3E}">
        <p14:creationId xmlns:p14="http://schemas.microsoft.com/office/powerpoint/2010/main" val="24797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5185" y="41151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9947" y="1275606"/>
            <a:ext cx="8229600" cy="31029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Conclusions and Future Work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388424" y="473199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3/32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|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Yachay Tech University</a:t>
            </a:r>
          </a:p>
        </p:txBody>
      </p:sp>
    </p:spTree>
    <p:extLst>
      <p:ext uri="{BB962C8B-B14F-4D97-AF65-F5344CB8AC3E}">
        <p14:creationId xmlns:p14="http://schemas.microsoft.com/office/powerpoint/2010/main" val="45252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8388424" y="473199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4/32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|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Yachay Tech University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67544" y="555526"/>
            <a:ext cx="7920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/>
              <a:t>En las ciudades modernas, comprender los patrones de movilidad urbana es </a:t>
            </a:r>
            <a:r>
              <a:rPr lang="es-ES" sz="2000" dirty="0" smtClean="0"/>
              <a:t>clave.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 smtClean="0"/>
              <a:t>En </a:t>
            </a:r>
            <a:r>
              <a:rPr lang="es-ES" sz="2000" dirty="0"/>
              <a:t>este contexto, </a:t>
            </a:r>
            <a:r>
              <a:rPr lang="es-ES" sz="2000" b="1" dirty="0"/>
              <a:t>la clasificación del medio de transporte</a:t>
            </a:r>
            <a:r>
              <a:rPr lang="es-ES" sz="2000" dirty="0"/>
              <a:t> utilizado por las personas se convierte en una herramienta </a:t>
            </a:r>
            <a:r>
              <a:rPr lang="es-ES" sz="2000" dirty="0" smtClean="0"/>
              <a:t>estratégica.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/>
              <a:t>El uso de técnicas de aprendizaje automático para mejorar la granularidad y precisión </a:t>
            </a:r>
            <a:r>
              <a:rPr lang="es-ES" sz="2000" dirty="0" smtClean="0"/>
              <a:t>al momento de clasificar el medio de transporte </a:t>
            </a:r>
            <a:r>
              <a:rPr lang="es-ES" sz="2000" dirty="0"/>
              <a:t>está ganando popularidad.</a:t>
            </a:r>
            <a:endParaRPr lang="es-ES" sz="2000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800732"/>
            <a:ext cx="1872208" cy="192196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829" y="2800732"/>
            <a:ext cx="2063443" cy="186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2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8388424" y="473199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r>
              <a:rPr lang="en-US" dirty="0"/>
              <a:t>/32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2" name="1 CuadroTexto">
            <a:hlinkClick r:id="rId3" action="ppaction://hlinksldjump"/>
          </p:cNvPr>
          <p:cNvSpPr txBox="1"/>
          <p:nvPr/>
        </p:nvSpPr>
        <p:spPr>
          <a:xfrm>
            <a:off x="165627" y="555526"/>
            <a:ext cx="879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Objetivos</a:t>
            </a:r>
            <a:endParaRPr lang="en-US" sz="24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611560" y="1138173"/>
            <a:ext cx="7920879" cy="923330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 smtClean="0"/>
              <a:t>Objetivo</a:t>
            </a:r>
            <a:r>
              <a:rPr lang="en-US" b="1" dirty="0" smtClean="0"/>
              <a:t> General: </a:t>
            </a:r>
            <a:r>
              <a:rPr lang="es-ES" dirty="0" smtClean="0"/>
              <a:t>Presentar </a:t>
            </a:r>
            <a:r>
              <a:rPr lang="es-ES" dirty="0"/>
              <a:t>una metodología para entrenar y evaluar </a:t>
            </a:r>
            <a:r>
              <a:rPr lang="es-ES" dirty="0" smtClean="0"/>
              <a:t>modelos </a:t>
            </a:r>
            <a:r>
              <a:rPr lang="es-ES" dirty="0"/>
              <a:t>de aprendizaje automático destinadas a </a:t>
            </a:r>
            <a:r>
              <a:rPr lang="es-ES" dirty="0" smtClean="0"/>
              <a:t>la clasificación del medio de transporte para su </a:t>
            </a:r>
            <a:r>
              <a:rPr lang="es-ES" dirty="0"/>
              <a:t>integración en modelos de demanda de transporte.</a:t>
            </a:r>
            <a:endParaRPr lang="en-U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45098" y="2456365"/>
            <a:ext cx="7920877" cy="1754326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 smtClean="0"/>
              <a:t>Objetivos</a:t>
            </a:r>
            <a:r>
              <a:rPr lang="en-US" b="1" dirty="0" smtClean="0"/>
              <a:t> </a:t>
            </a:r>
            <a:r>
              <a:rPr lang="en-US" b="1" dirty="0" err="1" smtClean="0"/>
              <a:t>Específicos</a:t>
            </a:r>
            <a:r>
              <a:rPr lang="en-US" b="1" dirty="0" smtClean="0"/>
              <a:t>:</a:t>
            </a:r>
            <a:endParaRPr lang="en-US" b="1" dirty="0"/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Filtrar, preparar y ajustar el conjunto de datos para alimentar los distintos modelos de aprendizaje automático</a:t>
            </a:r>
            <a:r>
              <a:rPr lang="es-ES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Entrenar y evaluar modelos de clasificación mediante modelos de aprendizaje automático para la clasificación </a:t>
            </a:r>
            <a:r>
              <a:rPr lang="es-ES" dirty="0" smtClean="0"/>
              <a:t>del medio de transporte.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 smtClean="0"/>
              <a:t>Comparar</a:t>
            </a:r>
            <a:r>
              <a:rPr lang="en-US" dirty="0" smtClean="0"/>
              <a:t>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modelos</a:t>
            </a:r>
            <a:r>
              <a:rPr lang="en-US" dirty="0" smtClean="0"/>
              <a:t> y </a:t>
            </a:r>
            <a:r>
              <a:rPr lang="en-US" dirty="0" err="1" smtClean="0"/>
              <a:t>escoger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478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5185" y="41151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9947" y="1275606"/>
            <a:ext cx="8229600" cy="31029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Conclusions and Future Work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r>
              <a:rPr lang="en-US" dirty="0"/>
              <a:t>/32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</p:spTree>
    <p:extLst>
      <p:ext uri="{BB962C8B-B14F-4D97-AF65-F5344CB8AC3E}">
        <p14:creationId xmlns:p14="http://schemas.microsoft.com/office/powerpoint/2010/main" val="189608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8204804" y="4731990"/>
            <a:ext cx="87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r>
              <a:rPr lang="en-US" dirty="0"/>
              <a:t>/32</a:t>
            </a:r>
          </a:p>
        </p:txBody>
      </p:sp>
      <p:sp>
        <p:nvSpPr>
          <p:cNvPr id="11" name="11 CuadroTexto"/>
          <p:cNvSpPr txBox="1"/>
          <p:nvPr/>
        </p:nvSpPr>
        <p:spPr>
          <a:xfrm>
            <a:off x="671108" y="555526"/>
            <a:ext cx="7920877" cy="1754326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Descripción del conjunto de datos</a:t>
            </a:r>
            <a:r>
              <a:rPr lang="es-ES" b="1" dirty="0" smtClean="0"/>
              <a:t>:</a:t>
            </a:r>
          </a:p>
          <a:p>
            <a:pPr algn="just"/>
            <a:r>
              <a:rPr lang="es-ES" dirty="0" smtClean="0"/>
              <a:t>El </a:t>
            </a:r>
            <a:r>
              <a:rPr lang="es-ES" dirty="0"/>
              <a:t>conjunto de datos utilizado para </a:t>
            </a:r>
            <a:r>
              <a:rPr lang="es-ES" dirty="0" smtClean="0"/>
              <a:t>la tarea </a:t>
            </a:r>
            <a:r>
              <a:rPr lang="es-ES" dirty="0"/>
              <a:t>de clasificación procede de una encuesta realizada en la ciudad de Cuenca, situada en la </a:t>
            </a:r>
            <a:r>
              <a:rPr lang="es-ES" dirty="0" smtClean="0"/>
              <a:t>provincia de </a:t>
            </a:r>
            <a:r>
              <a:rPr lang="es-ES" dirty="0"/>
              <a:t>Azuay. La encuesta se dirigió a unas 5.034 personas con el objetivo de recabar información sobre </a:t>
            </a:r>
            <a:r>
              <a:rPr lang="es-ES" dirty="0" smtClean="0"/>
              <a:t>los patrones </a:t>
            </a:r>
            <a:r>
              <a:rPr lang="es-ES" dirty="0"/>
              <a:t>de movilidad. Incluía preguntas sobre información personal y detalles sobre los desplazamientos de los participantes.</a:t>
            </a:r>
            <a:endParaRPr lang="en-US" dirty="0"/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25876"/>
            <a:ext cx="1872208" cy="207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491556"/>
            <a:ext cx="2228171" cy="21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1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r>
              <a:rPr lang="en-US" dirty="0"/>
              <a:t>/32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46" y="699542"/>
            <a:ext cx="6887128" cy="351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3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83568" y="501924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1.- </a:t>
            </a:r>
            <a:r>
              <a:rPr lang="en-US" b="1" dirty="0" err="1" smtClean="0"/>
              <a:t>Transformar</a:t>
            </a:r>
            <a:r>
              <a:rPr lang="en-US" b="1" dirty="0" smtClean="0"/>
              <a:t> </a:t>
            </a:r>
            <a:r>
              <a:rPr lang="en-US" b="1" dirty="0" err="1" smtClean="0"/>
              <a:t>preguntas</a:t>
            </a:r>
            <a:r>
              <a:rPr lang="en-US" b="1" dirty="0" smtClean="0"/>
              <a:t> de la </a:t>
            </a:r>
            <a:r>
              <a:rPr lang="en-US" b="1" dirty="0" err="1" smtClean="0"/>
              <a:t>encuesta</a:t>
            </a:r>
            <a:r>
              <a:rPr lang="en-US" b="1" dirty="0" smtClean="0"/>
              <a:t> </a:t>
            </a:r>
            <a:r>
              <a:rPr lang="en-US" b="1" dirty="0" err="1" smtClean="0"/>
              <a:t>en</a:t>
            </a:r>
            <a:r>
              <a:rPr lang="en-US" b="1" dirty="0" smtClean="0"/>
              <a:t> variables.</a:t>
            </a:r>
            <a:endParaRPr lang="en-US" b="1" dirty="0"/>
          </a:p>
        </p:txBody>
      </p:sp>
      <p:sp>
        <p:nvSpPr>
          <p:cNvPr id="19" name="18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9/32</a:t>
            </a:r>
            <a:endParaRPr lang="en-US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88952"/>
              </p:ext>
            </p:extLst>
          </p:nvPr>
        </p:nvGraphicFramePr>
        <p:xfrm>
          <a:off x="593619" y="927338"/>
          <a:ext cx="3348249" cy="373927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32249">
                  <a:extLst>
                    <a:ext uri="{9D8B030D-6E8A-4147-A177-3AD203B41FA5}">
                      <a16:colId xmlns:a16="http://schemas.microsoft.com/office/drawing/2014/main" val="98756588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33906053"/>
                    </a:ext>
                  </a:extLst>
                </a:gridCol>
              </a:tblGrid>
              <a:tr h="23830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Pregunta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00585"/>
                  </a:ext>
                </a:extLst>
              </a:tr>
              <a:tr h="223414">
                <a:tc>
                  <a:txBody>
                    <a:bodyPr/>
                    <a:lstStyle/>
                    <a:p>
                      <a:r>
                        <a:rPr lang="es-ES" sz="9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Q1a. Edad de entrevistado: (años)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edad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230654"/>
                  </a:ext>
                </a:extLst>
              </a:tr>
              <a:tr h="223414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Q1b. Género del entrevistado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genero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23597"/>
                  </a:ext>
                </a:extLst>
              </a:tr>
              <a:tr h="223414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Q1c. Estado Civil del entrevistado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estado</a:t>
                      </a:r>
                      <a:r>
                        <a:rPr lang="en-US" sz="9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_civil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92364"/>
                  </a:ext>
                </a:extLst>
              </a:tr>
              <a:tr h="223414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Q1d. Ocupación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ocupacion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476248"/>
                  </a:ext>
                </a:extLst>
              </a:tr>
              <a:tr h="1027706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Q2si,</a:t>
                      </a:r>
                      <a:r>
                        <a:rPr lang="es-E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Cuántos desplazamientos hizo: “Por desplazamiento se entiende el trayecto completo que se hace desde un lugar (origen) hasta a otro (destino) y que puede hacerse caminando o utilizando uno o más medios de transporte”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desplazamientos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385916"/>
                  </a:ext>
                </a:extLst>
              </a:tr>
              <a:tr h="491511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Q3_11si.</a:t>
                      </a:r>
                      <a:r>
                        <a:rPr lang="es-E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desde donde hizo el PRIMER desplazamiento?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direccion_inicio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469548"/>
                  </a:ext>
                </a:extLst>
              </a:tr>
              <a:tr h="223414">
                <a:tc>
                  <a:txBody>
                    <a:bodyPr/>
                    <a:lstStyle/>
                    <a:p>
                      <a:r>
                        <a:rPr lang="es-ES" sz="9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Q3_11sib.</a:t>
                      </a:r>
                      <a:r>
                        <a:rPr lang="es-ES" sz="900" baseline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9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zona_inicio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443138"/>
                  </a:ext>
                </a:extLst>
              </a:tr>
              <a:tr h="357463">
                <a:tc>
                  <a:txBody>
                    <a:bodyPr/>
                    <a:lstStyle/>
                    <a:p>
                      <a:r>
                        <a:rPr lang="es-ES" sz="9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Q3_12. ¿Cuál fue el motivo de este desplazamiento?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motivo</a:t>
                      </a:r>
                      <a:r>
                        <a:rPr lang="en-U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012521"/>
                  </a:ext>
                </a:extLst>
              </a:tr>
              <a:tr h="443607">
                <a:tc>
                  <a:txBody>
                    <a:bodyPr/>
                    <a:lstStyle/>
                    <a:p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Q3_13. A qué lugar se dirigió? (Dirección)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direccion_final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925269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40793"/>
              </p:ext>
            </p:extLst>
          </p:nvPr>
        </p:nvGraphicFramePr>
        <p:xfrm>
          <a:off x="4752143" y="1298871"/>
          <a:ext cx="3348249" cy="299621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32249">
                  <a:extLst>
                    <a:ext uri="{9D8B030D-6E8A-4147-A177-3AD203B41FA5}">
                      <a16:colId xmlns:a16="http://schemas.microsoft.com/office/drawing/2014/main" val="98756588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33906053"/>
                    </a:ext>
                  </a:extLst>
                </a:gridCol>
              </a:tblGrid>
              <a:tr h="18750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Pregunta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00585"/>
                  </a:ext>
                </a:extLst>
              </a:tr>
              <a:tr h="283492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Q3_13b</a:t>
                      </a: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Zonificación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zona_fin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230654"/>
                  </a:ext>
                </a:extLst>
              </a:tr>
              <a:tr h="283492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Q3_14 </a:t>
                      </a: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¿A qué hora salió del lugar de ORIGEN para ir a este otro lugar?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hora_inicio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49570"/>
                  </a:ext>
                </a:extLst>
              </a:tr>
              <a:tr h="4922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Q3_15.</a:t>
                      </a:r>
                      <a:r>
                        <a:rPr lang="es-E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Por favor, indíqueme ¿qué medio o medios de transporte utilizó para ir de un lugar a otro lugar a realizar el motivo de su desplazamiento?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medio_transporte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23597"/>
                  </a:ext>
                </a:extLst>
              </a:tr>
              <a:tr h="3867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Q3_16.</a:t>
                      </a:r>
                      <a:r>
                        <a:rPr lang="es-E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¿Cuánto tiempo, en MINUTOS tardó para ir de un lugar a otro por el motivo de su desplazamiento?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duracion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92364"/>
                  </a:ext>
                </a:extLst>
              </a:tr>
              <a:tr h="2812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Q4.</a:t>
                      </a: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Características del Entrevistado:  Número de vehículos en el hogar?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n_vehiculos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476248"/>
                  </a:ext>
                </a:extLst>
              </a:tr>
              <a:tr h="1757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Q5.</a:t>
                      </a:r>
                      <a:r>
                        <a:rPr lang="en-US" sz="900" baseline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Tiene licencia de conducir?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licencia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385916"/>
                  </a:ext>
                </a:extLst>
              </a:tr>
              <a:tr h="2812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Q6. </a:t>
                      </a:r>
                      <a:r>
                        <a:rPr lang="en-US" sz="9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disponibilidad</a:t>
                      </a: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9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</a:t>
                      </a:r>
                      <a:r>
                        <a:rPr lang="en-US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  <a:p>
                      <a:endParaRPr lang="es-ES" sz="90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vehiculo</a:t>
                      </a:r>
                      <a:endParaRPr lang="es-ES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9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04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10/32</a:t>
            </a:r>
          </a:p>
        </p:txBody>
      </p:sp>
      <p:sp>
        <p:nvSpPr>
          <p:cNvPr id="11" name="11 CuadroTexto"/>
          <p:cNvSpPr txBox="1"/>
          <p:nvPr/>
        </p:nvSpPr>
        <p:spPr>
          <a:xfrm>
            <a:off x="611560" y="699066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2.-Recategorizacion Variables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827584" y="1043028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 smtClean="0"/>
              <a:t>Ocupación</a:t>
            </a:r>
            <a:endParaRPr lang="en-US" b="1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67819"/>
            <a:ext cx="3066240" cy="3166686"/>
          </a:xfrm>
          <a:prstGeom prst="rect">
            <a:avLst/>
          </a:prstGeom>
        </p:spPr>
      </p:pic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496667"/>
              </p:ext>
            </p:extLst>
          </p:nvPr>
        </p:nvGraphicFramePr>
        <p:xfrm>
          <a:off x="4927837" y="1602868"/>
          <a:ext cx="3388578" cy="24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395">
                  <a:extLst>
                    <a:ext uri="{9D8B030D-6E8A-4147-A177-3AD203B41FA5}">
                      <a16:colId xmlns:a16="http://schemas.microsoft.com/office/drawing/2014/main" val="564576369"/>
                    </a:ext>
                  </a:extLst>
                </a:gridCol>
                <a:gridCol w="1656183">
                  <a:extLst>
                    <a:ext uri="{9D8B030D-6E8A-4147-A177-3AD203B41FA5}">
                      <a16:colId xmlns:a16="http://schemas.microsoft.com/office/drawing/2014/main" val="1782301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Nueva </a:t>
                      </a:r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4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 - No trabaja,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 - Trabaja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6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Empleado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Empleado privado,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Empleado público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51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Independiente/Comerciante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independiente,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Propietario-Comerciante'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 de casa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 de casa - No trabaja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69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Jubilado/Otro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Jubilado - pensionista,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Otro:'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760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06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11/32</a:t>
            </a:r>
          </a:p>
        </p:txBody>
      </p:sp>
      <p:sp>
        <p:nvSpPr>
          <p:cNvPr id="11" name="11 CuadroTexto"/>
          <p:cNvSpPr txBox="1"/>
          <p:nvPr/>
        </p:nvSpPr>
        <p:spPr>
          <a:xfrm>
            <a:off x="611560" y="699066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2.-Recategorizacion Variables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827584" y="1043028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 smtClean="0"/>
              <a:t>Motivo</a:t>
            </a:r>
            <a:endParaRPr lang="en-US" b="1" dirty="0" smtClean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099502"/>
              </p:ext>
            </p:extLst>
          </p:nvPr>
        </p:nvGraphicFramePr>
        <p:xfrm>
          <a:off x="3995936" y="1602868"/>
          <a:ext cx="482453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22">
                  <a:extLst>
                    <a:ext uri="{9D8B030D-6E8A-4147-A177-3AD203B41FA5}">
                      <a16:colId xmlns:a16="http://schemas.microsoft.com/office/drawing/2014/main" val="564576369"/>
                    </a:ext>
                  </a:extLst>
                </a:gridCol>
                <a:gridCol w="2358014">
                  <a:extLst>
                    <a:ext uri="{9D8B030D-6E8A-4147-A177-3AD203B41FA5}">
                      <a16:colId xmlns:a16="http://schemas.microsoft.com/office/drawing/2014/main" val="1782301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Nueva </a:t>
                      </a:r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4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Estudios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Estudios / Formación,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Vuelta a casa desde trabajo/estudio/formación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6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Gestiones personales,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Médico/ hospital,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Pasear/ Acompañar personas/ Visita amigo familiar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51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Ocio / diversión,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Comida no por motivos de ocio,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Vuelta a casa desde otros motivos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Compras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Compras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69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Trabajo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Trabajo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760185"/>
                  </a:ext>
                </a:extLst>
              </a:tr>
            </a:tbl>
          </a:graphicData>
        </a:graphic>
      </p:graphicFrame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347614"/>
            <a:ext cx="2027745" cy="333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7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12/32</a:t>
            </a:r>
          </a:p>
        </p:txBody>
      </p:sp>
      <p:sp>
        <p:nvSpPr>
          <p:cNvPr id="11" name="11 CuadroTexto"/>
          <p:cNvSpPr txBox="1"/>
          <p:nvPr/>
        </p:nvSpPr>
        <p:spPr>
          <a:xfrm>
            <a:off x="611560" y="690250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2.-Recategorizacion Variables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827584" y="1043028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Medio de </a:t>
            </a:r>
            <a:r>
              <a:rPr lang="en-US" b="1" dirty="0" err="1" smtClean="0"/>
              <a:t>transporte</a:t>
            </a:r>
            <a:endParaRPr lang="en-US" b="1" dirty="0" smtClean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19001"/>
              </p:ext>
            </p:extLst>
          </p:nvPr>
        </p:nvGraphicFramePr>
        <p:xfrm>
          <a:off x="3995936" y="1602868"/>
          <a:ext cx="4824536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22">
                  <a:extLst>
                    <a:ext uri="{9D8B030D-6E8A-4147-A177-3AD203B41FA5}">
                      <a16:colId xmlns:a16="http://schemas.microsoft.com/office/drawing/2014/main" val="564576369"/>
                    </a:ext>
                  </a:extLst>
                </a:gridCol>
                <a:gridCol w="2358014">
                  <a:extLst>
                    <a:ext uri="{9D8B030D-6E8A-4147-A177-3AD203B41FA5}">
                      <a16:colId xmlns:a16="http://schemas.microsoft.com/office/drawing/2014/main" val="1782301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Nueva </a:t>
                      </a:r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4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Transporte no motorizado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pie, Bicicleta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6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Transporte público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Autobús urbano, Autobús de empresa,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Autobús escolar,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Autobús otros,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Autobús interurbano,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Taxi'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51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 privado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Motocicleta como conductor,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Motocicleta como acompañante,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Coche como conductor,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Coche como acompañante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2065"/>
                  </a:ext>
                </a:extLst>
              </a:tr>
            </a:tbl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11" y="1412361"/>
            <a:ext cx="2880001" cy="331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13/32</a:t>
            </a:r>
          </a:p>
        </p:txBody>
      </p:sp>
      <p:sp>
        <p:nvSpPr>
          <p:cNvPr id="11" name="11 CuadroTexto"/>
          <p:cNvSpPr txBox="1"/>
          <p:nvPr/>
        </p:nvSpPr>
        <p:spPr>
          <a:xfrm>
            <a:off x="611560" y="690250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2.-Recategorizacion Variables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827584" y="1043028"/>
            <a:ext cx="7920877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 smtClean="0"/>
              <a:t>Licencia</a:t>
            </a:r>
            <a:r>
              <a:rPr lang="en-US" b="1" dirty="0" smtClean="0"/>
              <a:t> y </a:t>
            </a:r>
            <a:r>
              <a:rPr lang="en-US" b="1" dirty="0" err="1" smtClean="0"/>
              <a:t>Vehículo</a:t>
            </a:r>
            <a:endParaRPr lang="en-US" b="1" dirty="0" smtClean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42510"/>
              </p:ext>
            </p:extLst>
          </p:nvPr>
        </p:nvGraphicFramePr>
        <p:xfrm>
          <a:off x="2390915" y="1563638"/>
          <a:ext cx="4824536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22">
                  <a:extLst>
                    <a:ext uri="{9D8B030D-6E8A-4147-A177-3AD203B41FA5}">
                      <a16:colId xmlns:a16="http://schemas.microsoft.com/office/drawing/2014/main" val="564576369"/>
                    </a:ext>
                  </a:extLst>
                </a:gridCol>
                <a:gridCol w="2358014">
                  <a:extLst>
                    <a:ext uri="{9D8B030D-6E8A-4147-A177-3AD203B41FA5}">
                      <a16:colId xmlns:a16="http://schemas.microsoft.com/office/drawing/2014/main" val="1782301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Nueva </a:t>
                      </a:r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499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Licencia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56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6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Menor de edad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51415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50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No,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Menor de edad</a:t>
                      </a:r>
                    </a:p>
                    <a:p>
                      <a:pPr algn="ctr"/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42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94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26719" y="771550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3.-Tratamiento de la hora de </a:t>
            </a:r>
            <a:r>
              <a:rPr lang="en-US" b="1" dirty="0" err="1" smtClean="0"/>
              <a:t>inicio</a:t>
            </a:r>
            <a:endParaRPr lang="en-US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14/32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6217421" y="2427734"/>
            <a:ext cx="1548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ángulo redondeado 10"/>
          <p:cNvSpPr/>
          <p:nvPr/>
        </p:nvSpPr>
        <p:spPr>
          <a:xfrm>
            <a:off x="5007441" y="1970534"/>
            <a:ext cx="120998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HH:MM</a:t>
            </a:r>
          </a:p>
          <a:p>
            <a:pPr algn="ctr"/>
            <a:r>
              <a:rPr lang="en-US" dirty="0" smtClean="0"/>
              <a:t>[08:30]</a:t>
            </a:r>
            <a:endParaRPr lang="es-ES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7765421" y="2017390"/>
            <a:ext cx="864096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Horas</a:t>
            </a:r>
          </a:p>
          <a:p>
            <a:pPr algn="ctr"/>
            <a:r>
              <a:rPr lang="en-US" dirty="0" smtClean="0"/>
              <a:t>[9]</a:t>
            </a:r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61969" y="1618802"/>
            <a:ext cx="37319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En este caso pasaremos la columna a tipo </a:t>
            </a:r>
            <a:r>
              <a:rPr lang="es-ES" sz="1600" dirty="0" err="1"/>
              <a:t>datetime</a:t>
            </a:r>
            <a:r>
              <a:rPr lang="es-ES" sz="1600" dirty="0"/>
              <a:t>, y solo considerare las horas no los </a:t>
            </a:r>
            <a:r>
              <a:rPr lang="es-ES" sz="1600" dirty="0" smtClean="0"/>
              <a:t>minutos, </a:t>
            </a:r>
            <a:r>
              <a:rPr lang="es-ES" sz="1600" dirty="0"/>
              <a:t>sin embargo para no despreciarlos </a:t>
            </a:r>
            <a:r>
              <a:rPr lang="es-ES" sz="1600" dirty="0" smtClean="0"/>
              <a:t>pondremos </a:t>
            </a:r>
            <a:r>
              <a:rPr lang="es-ES" sz="1600" dirty="0"/>
              <a:t>una </a:t>
            </a:r>
            <a:r>
              <a:rPr lang="es-ES" sz="1600" dirty="0" smtClean="0"/>
              <a:t>condición de </a:t>
            </a:r>
            <a:r>
              <a:rPr lang="es-ES" sz="1600" dirty="0"/>
              <a:t>que si es que los minutos son &gt;=30 entonces a la hora le sube 1 caso contrario se que en la hora inicial</a:t>
            </a:r>
          </a:p>
        </p:txBody>
      </p:sp>
    </p:spTree>
    <p:extLst>
      <p:ext uri="{BB962C8B-B14F-4D97-AF65-F5344CB8AC3E}">
        <p14:creationId xmlns:p14="http://schemas.microsoft.com/office/powerpoint/2010/main" val="76655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26719" y="771550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4</a:t>
            </a:r>
            <a:r>
              <a:rPr lang="en-US" b="1" dirty="0" smtClean="0"/>
              <a:t>.-Recategorizacion variable zona </a:t>
            </a:r>
            <a:r>
              <a:rPr lang="en-US" b="1" dirty="0" err="1" smtClean="0"/>
              <a:t>inicio</a:t>
            </a:r>
            <a:r>
              <a:rPr lang="en-US" b="1" dirty="0" smtClean="0"/>
              <a:t> y zona final</a:t>
            </a:r>
            <a:endParaRPr lang="en-US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15/32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626719" y="1249849"/>
            <a:ext cx="8230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 smtClean="0"/>
              <a:t>Estas dos variables tenían muchas categorías. En el caso de la zona inicio existen 43 y en el caso de la zona final existen 50</a:t>
            </a:r>
            <a:r>
              <a:rPr lang="es-ES" sz="1600" dirty="0"/>
              <a:t>.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9" y="1984799"/>
            <a:ext cx="3861598" cy="242300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714" y="1905291"/>
            <a:ext cx="4749516" cy="263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1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26719" y="496232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K-means </a:t>
            </a:r>
            <a:r>
              <a:rPr lang="en-US" b="1" dirty="0"/>
              <a:t>(Elbow Curve y </a:t>
            </a:r>
            <a:r>
              <a:rPr lang="en-US" b="1" dirty="0" err="1"/>
              <a:t>Silhoutte</a:t>
            </a:r>
            <a:r>
              <a:rPr lang="en-US" b="1" dirty="0"/>
              <a:t> </a:t>
            </a:r>
            <a:r>
              <a:rPr lang="en-US" b="1" dirty="0" smtClean="0"/>
              <a:t>Score) </a:t>
            </a:r>
            <a:endParaRPr lang="en-US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16/32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" t="3977" r="7817"/>
          <a:stretch/>
        </p:blipFill>
        <p:spPr>
          <a:xfrm>
            <a:off x="626719" y="1572930"/>
            <a:ext cx="3024336" cy="2531740"/>
          </a:xfrm>
          <a:prstGeom prst="rect">
            <a:avLst/>
          </a:prstGeom>
        </p:spPr>
      </p:pic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39874"/>
              </p:ext>
            </p:extLst>
          </p:nvPr>
        </p:nvGraphicFramePr>
        <p:xfrm>
          <a:off x="4468458" y="973737"/>
          <a:ext cx="2160000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44656126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812273931"/>
                    </a:ext>
                  </a:extLst>
                </a:gridCol>
              </a:tblGrid>
              <a:tr h="402391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n_clusters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Silhoutte</a:t>
                      </a:r>
                      <a:r>
                        <a:rPr lang="es-E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Score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412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0.4412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303553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0.3618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543964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0.3532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409289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0.3936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768862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0.3727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532403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0.3448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473210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0.3277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96973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0.2840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654535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0.2733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90803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0.2907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815254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0.2780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89160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0.2742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802744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0.2819</a:t>
                      </a:r>
                      <a:endParaRPr lang="es-E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523456"/>
                  </a:ext>
                </a:extLst>
              </a:tr>
            </a:tbl>
          </a:graphicData>
        </a:graphic>
      </p:graphicFrame>
      <p:sp>
        <p:nvSpPr>
          <p:cNvPr id="11" name="Flecha derecha 10"/>
          <p:cNvSpPr/>
          <p:nvPr/>
        </p:nvSpPr>
        <p:spPr>
          <a:xfrm>
            <a:off x="3670234" y="2562791"/>
            <a:ext cx="699235" cy="50235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Flecha derecha 15"/>
          <p:cNvSpPr/>
          <p:nvPr/>
        </p:nvSpPr>
        <p:spPr>
          <a:xfrm>
            <a:off x="6719779" y="2523119"/>
            <a:ext cx="699235" cy="50235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redondeado 11"/>
          <p:cNvSpPr/>
          <p:nvPr/>
        </p:nvSpPr>
        <p:spPr>
          <a:xfrm>
            <a:off x="7596336" y="2294456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K=5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74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26719" y="684525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Clusters</a:t>
            </a:r>
            <a:endParaRPr lang="en-US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17/32</a:t>
            </a:r>
          </a:p>
        </p:txBody>
      </p:sp>
      <p:sp>
        <p:nvSpPr>
          <p:cNvPr id="15" name="11 CuadroTexto"/>
          <p:cNvSpPr txBox="1"/>
          <p:nvPr/>
        </p:nvSpPr>
        <p:spPr>
          <a:xfrm>
            <a:off x="1598827" y="1419622"/>
            <a:ext cx="5760640" cy="230832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l-PL" b="1" dirty="0"/>
              <a:t>Cluster </a:t>
            </a:r>
            <a:r>
              <a:rPr lang="pl-PL" b="1" dirty="0" smtClean="0"/>
              <a:t>0(Zon</a:t>
            </a:r>
            <a:r>
              <a:rPr lang="en-US" b="1" dirty="0" smtClean="0"/>
              <a:t>a_</a:t>
            </a:r>
            <a:r>
              <a:rPr lang="pl-PL" b="1" dirty="0" smtClean="0"/>
              <a:t>01</a:t>
            </a:r>
            <a:r>
              <a:rPr lang="pl-PL" b="1" dirty="0"/>
              <a:t>): </a:t>
            </a:r>
            <a:r>
              <a:rPr lang="en-US" dirty="0" smtClean="0"/>
              <a:t>Z</a:t>
            </a:r>
            <a:r>
              <a:rPr lang="pl-PL" dirty="0" smtClean="0"/>
              <a:t>47</a:t>
            </a:r>
            <a:r>
              <a:rPr lang="en-US" dirty="0" smtClean="0"/>
              <a:t>, Z1</a:t>
            </a:r>
            <a:r>
              <a:rPr lang="pl-PL" dirty="0" smtClean="0"/>
              <a:t>6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17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en-US" dirty="0"/>
              <a:t>1</a:t>
            </a:r>
            <a:r>
              <a:rPr lang="pl-PL" dirty="0" smtClean="0"/>
              <a:t>8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19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20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21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30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29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en-US" dirty="0"/>
              <a:t>2</a:t>
            </a:r>
            <a:r>
              <a:rPr lang="pl-PL" dirty="0" smtClean="0"/>
              <a:t>4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44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39</a:t>
            </a:r>
            <a:r>
              <a:rPr lang="en-US" dirty="0"/>
              <a:t>, </a:t>
            </a:r>
            <a:r>
              <a:rPr lang="en-US" dirty="0" smtClean="0"/>
              <a:t>Z</a:t>
            </a:r>
            <a:r>
              <a:rPr lang="pl-PL" dirty="0" smtClean="0"/>
              <a:t>49</a:t>
            </a:r>
            <a:endParaRPr lang="en-US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l-PL" b="1" dirty="0" smtClean="0"/>
              <a:t>Cluster 1(Zon</a:t>
            </a:r>
            <a:r>
              <a:rPr lang="en-US" b="1" dirty="0" smtClean="0"/>
              <a:t>a_</a:t>
            </a:r>
            <a:r>
              <a:rPr lang="pl-PL" b="1" dirty="0" smtClean="0"/>
              <a:t>02</a:t>
            </a:r>
            <a:r>
              <a:rPr lang="pl-PL" b="1" dirty="0"/>
              <a:t>): </a:t>
            </a:r>
            <a:r>
              <a:rPr lang="en-US" dirty="0" smtClean="0"/>
              <a:t>Z</a:t>
            </a:r>
            <a:r>
              <a:rPr lang="pl-PL" dirty="0" smtClean="0"/>
              <a:t>9</a:t>
            </a:r>
            <a:r>
              <a:rPr lang="en-US" dirty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10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41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42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36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26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37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25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22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38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35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40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31</a:t>
            </a:r>
            <a:endParaRPr lang="en-US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l-PL" b="1" dirty="0" smtClean="0"/>
              <a:t>Cluster 2(Zon</a:t>
            </a:r>
            <a:r>
              <a:rPr lang="en-US" b="1" dirty="0" smtClean="0"/>
              <a:t>a_</a:t>
            </a:r>
            <a:r>
              <a:rPr lang="pl-PL" b="1" dirty="0" smtClean="0"/>
              <a:t>03</a:t>
            </a:r>
            <a:r>
              <a:rPr lang="pl-PL" b="1" dirty="0"/>
              <a:t>): </a:t>
            </a:r>
            <a:r>
              <a:rPr lang="en-US" dirty="0"/>
              <a:t>Z</a:t>
            </a:r>
            <a:r>
              <a:rPr lang="pl-PL" dirty="0" smtClean="0"/>
              <a:t>1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smtClean="0"/>
              <a:t>Z</a:t>
            </a:r>
            <a:r>
              <a:rPr lang="pl-PL" dirty="0" smtClean="0"/>
              <a:t>2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3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smtClean="0"/>
              <a:t>Z</a:t>
            </a:r>
            <a:r>
              <a:rPr lang="pl-PL" dirty="0" smtClean="0"/>
              <a:t>4</a:t>
            </a:r>
            <a:r>
              <a:rPr lang="en-US" dirty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5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6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7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8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12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smtClean="0"/>
              <a:t>Z</a:t>
            </a:r>
            <a:r>
              <a:rPr lang="pl-PL" dirty="0" smtClean="0"/>
              <a:t>13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11</a:t>
            </a:r>
            <a:r>
              <a:rPr lang="en-US" dirty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46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45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14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15</a:t>
            </a:r>
            <a:r>
              <a:rPr lang="en-US" dirty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23</a:t>
            </a:r>
            <a:endParaRPr lang="en-US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l-PL" b="1" dirty="0" smtClean="0"/>
              <a:t>Cluster 3(Zon</a:t>
            </a:r>
            <a:r>
              <a:rPr lang="en-US" b="1" dirty="0" smtClean="0"/>
              <a:t>a_</a:t>
            </a:r>
            <a:r>
              <a:rPr lang="pl-PL" b="1" dirty="0" smtClean="0"/>
              <a:t>04</a:t>
            </a:r>
            <a:r>
              <a:rPr lang="pl-PL" b="1" dirty="0"/>
              <a:t>): </a:t>
            </a:r>
            <a:r>
              <a:rPr lang="en-US" dirty="0" smtClean="0"/>
              <a:t>Z</a:t>
            </a:r>
            <a:r>
              <a:rPr lang="pl-PL" dirty="0" smtClean="0"/>
              <a:t>32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50</a:t>
            </a:r>
            <a:r>
              <a:rPr lang="en-US" dirty="0" smtClean="0"/>
              <a:t>,</a:t>
            </a:r>
            <a:r>
              <a:rPr lang="pl-PL" dirty="0" smtClean="0"/>
              <a:t> </a:t>
            </a:r>
            <a:r>
              <a:rPr lang="en-US" dirty="0" smtClean="0"/>
              <a:t>Z</a:t>
            </a:r>
            <a:r>
              <a:rPr lang="pl-PL" dirty="0" smtClean="0"/>
              <a:t>51</a:t>
            </a:r>
            <a:endParaRPr lang="en-US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b="1" dirty="0" err="1" smtClean="0"/>
              <a:t>Cluster</a:t>
            </a:r>
            <a:r>
              <a:rPr lang="es-ES" b="1" dirty="0" smtClean="0"/>
              <a:t> 4(Zona_05</a:t>
            </a:r>
            <a:r>
              <a:rPr lang="es-ES" b="1" dirty="0"/>
              <a:t>): </a:t>
            </a:r>
            <a:r>
              <a:rPr lang="es-ES" dirty="0" smtClean="0"/>
              <a:t>Z43, Z27, Z34, Z28, Z33, Z48</a:t>
            </a:r>
          </a:p>
        </p:txBody>
      </p:sp>
    </p:spTree>
    <p:extLst>
      <p:ext uri="{BB962C8B-B14F-4D97-AF65-F5344CB8AC3E}">
        <p14:creationId xmlns:p14="http://schemas.microsoft.com/office/powerpoint/2010/main" val="389898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26719" y="684525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Clusters</a:t>
            </a:r>
            <a:endParaRPr lang="en-US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18/32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053857"/>
            <a:ext cx="5460965" cy="333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0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899592" y="70227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5</a:t>
            </a:r>
            <a:r>
              <a:rPr lang="es-ES" b="1" dirty="0" smtClean="0"/>
              <a:t>.-Balanceo de datos</a:t>
            </a:r>
            <a:endParaRPr lang="en-US" sz="2400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</a:t>
            </a:r>
            <a:r>
              <a:rPr lang="en-US" dirty="0"/>
              <a:t>/32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888522"/>
              </p:ext>
            </p:extLst>
          </p:nvPr>
        </p:nvGraphicFramePr>
        <p:xfrm>
          <a:off x="3851920" y="2092707"/>
          <a:ext cx="5025401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97209">
                  <a:extLst>
                    <a:ext uri="{9D8B030D-6E8A-4147-A177-3AD203B41FA5}">
                      <a16:colId xmlns:a16="http://schemas.microsoft.com/office/drawing/2014/main" val="15868922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898040909"/>
                    </a:ext>
                  </a:extLst>
                </a:gridCol>
              </a:tblGrid>
              <a:tr h="3005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Tarea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Tamaño</a:t>
                      </a:r>
                      <a:r>
                        <a:rPr lang="en-US" baseline="0" dirty="0" smtClean="0"/>
                        <a:t> dataset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43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 err="1" smtClean="0"/>
                        <a:t>Clasificacion</a:t>
                      </a:r>
                      <a:r>
                        <a:rPr lang="en-US" sz="1500" dirty="0" smtClean="0"/>
                        <a:t> de </a:t>
                      </a:r>
                      <a:r>
                        <a:rPr lang="en-US" sz="1500" dirty="0" err="1" smtClean="0"/>
                        <a:t>medio</a:t>
                      </a:r>
                      <a:r>
                        <a:rPr lang="en-US" sz="1500" dirty="0" smtClean="0"/>
                        <a:t> de </a:t>
                      </a:r>
                      <a:r>
                        <a:rPr lang="en-US" sz="1500" dirty="0" err="1" smtClean="0"/>
                        <a:t>transporte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6111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32987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647110" y="2056269"/>
            <a:ext cx="1584176" cy="8640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Random Oversampling</a:t>
            </a:r>
            <a:endParaRPr lang="es-ES" dirty="0"/>
          </a:p>
        </p:txBody>
      </p:sp>
      <p:sp>
        <p:nvSpPr>
          <p:cNvPr id="11" name="Flecha derecha 10"/>
          <p:cNvSpPr/>
          <p:nvPr/>
        </p:nvSpPr>
        <p:spPr>
          <a:xfrm>
            <a:off x="2592192" y="2246001"/>
            <a:ext cx="978408" cy="48463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410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899592" y="70227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6</a:t>
            </a:r>
            <a:r>
              <a:rPr lang="es-ES" b="1" dirty="0" smtClean="0"/>
              <a:t>.- Codificación variables categóricas.</a:t>
            </a:r>
            <a:endParaRPr lang="en-US" sz="2400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20/32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828959"/>
              </p:ext>
            </p:extLst>
          </p:nvPr>
        </p:nvGraphicFramePr>
        <p:xfrm>
          <a:off x="2960517" y="1222345"/>
          <a:ext cx="3933366" cy="327075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66683">
                  <a:extLst>
                    <a:ext uri="{9D8B030D-6E8A-4147-A177-3AD203B41FA5}">
                      <a16:colId xmlns:a16="http://schemas.microsoft.com/office/drawing/2014/main" val="1742509726"/>
                    </a:ext>
                  </a:extLst>
                </a:gridCol>
                <a:gridCol w="1966683">
                  <a:extLst>
                    <a:ext uri="{9D8B030D-6E8A-4147-A177-3AD203B41FA5}">
                      <a16:colId xmlns:a16="http://schemas.microsoft.com/office/drawing/2014/main" val="2397127081"/>
                    </a:ext>
                  </a:extLst>
                </a:gridCol>
              </a:tblGrid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Variable </a:t>
                      </a:r>
                      <a:r>
                        <a:rPr lang="en-US" sz="1100" dirty="0" err="1" smtClean="0"/>
                        <a:t>Categorica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Categorias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19376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genero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101043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estado_civil</a:t>
                      </a:r>
                      <a:endParaRPr 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6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699093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ocupacion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53343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motivo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84961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medio_transporte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3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851187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licencia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436333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vehiculo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85497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zona_inicio_agrupada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59507"/>
                  </a:ext>
                </a:extLst>
              </a:tr>
              <a:tr h="3270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/>
                        <a:t>zona_fin_agrupada</a:t>
                      </a:r>
                      <a:r>
                        <a:rPr lang="en-US" sz="1100" dirty="0" smtClean="0"/>
                        <a:t> 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254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29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21/32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054451" y="1787211"/>
            <a:ext cx="7154192" cy="6480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DATASET</a:t>
            </a:r>
            <a:endParaRPr lang="es-ES" dirty="0"/>
          </a:p>
        </p:txBody>
      </p:sp>
      <p:sp>
        <p:nvSpPr>
          <p:cNvPr id="15" name="12 CuadroTexto"/>
          <p:cNvSpPr txBox="1"/>
          <p:nvPr/>
        </p:nvSpPr>
        <p:spPr>
          <a:xfrm>
            <a:off x="645707" y="567348"/>
            <a:ext cx="715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7</a:t>
            </a:r>
            <a:r>
              <a:rPr lang="es-ES" b="1" dirty="0" smtClean="0"/>
              <a:t>.- División en entrenamiento y prueba</a:t>
            </a:r>
            <a:endParaRPr lang="es-ES" b="1" dirty="0"/>
          </a:p>
        </p:txBody>
      </p:sp>
      <p:sp>
        <p:nvSpPr>
          <p:cNvPr id="18" name="Rectángulo 17"/>
          <p:cNvSpPr/>
          <p:nvPr/>
        </p:nvSpPr>
        <p:spPr>
          <a:xfrm>
            <a:off x="1054450" y="2576023"/>
            <a:ext cx="5029718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smtClean="0"/>
              <a:t> TRAIN (80%)</a:t>
            </a:r>
            <a:endParaRPr lang="es-ES" sz="1500" dirty="0"/>
          </a:p>
        </p:txBody>
      </p:sp>
      <p:sp>
        <p:nvSpPr>
          <p:cNvPr id="19" name="Rectángulo 18"/>
          <p:cNvSpPr/>
          <p:nvPr/>
        </p:nvSpPr>
        <p:spPr>
          <a:xfrm>
            <a:off x="6156176" y="2576023"/>
            <a:ext cx="2052466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smtClean="0"/>
              <a:t> TEST (20%)</a:t>
            </a:r>
            <a:endParaRPr lang="es-ES" sz="1500" dirty="0"/>
          </a:p>
        </p:txBody>
      </p:sp>
    </p:spTree>
    <p:extLst>
      <p:ext uri="{BB962C8B-B14F-4D97-AF65-F5344CB8AC3E}">
        <p14:creationId xmlns:p14="http://schemas.microsoft.com/office/powerpoint/2010/main" val="135776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22/32</a:t>
            </a:r>
          </a:p>
        </p:txBody>
      </p:sp>
      <p:sp>
        <p:nvSpPr>
          <p:cNvPr id="2" name="Rectángulo 1"/>
          <p:cNvSpPr/>
          <p:nvPr/>
        </p:nvSpPr>
        <p:spPr>
          <a:xfrm>
            <a:off x="2802003" y="1009303"/>
            <a:ext cx="3240360" cy="6480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Machine Learning Models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705015" y="2339570"/>
            <a:ext cx="2019258" cy="7452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Random Forest</a:t>
            </a:r>
            <a:endParaRPr lang="es-ES" dirty="0"/>
          </a:p>
        </p:txBody>
      </p:sp>
      <p:sp>
        <p:nvSpPr>
          <p:cNvPr id="11" name="Rectángulo 10"/>
          <p:cNvSpPr/>
          <p:nvPr/>
        </p:nvSpPr>
        <p:spPr>
          <a:xfrm>
            <a:off x="3422579" y="2326440"/>
            <a:ext cx="2019258" cy="7452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Decision Tree</a:t>
            </a:r>
            <a:endParaRPr lang="es-ES" dirty="0"/>
          </a:p>
        </p:txBody>
      </p:sp>
      <p:sp>
        <p:nvSpPr>
          <p:cNvPr id="12" name="Rectángulo 11"/>
          <p:cNvSpPr/>
          <p:nvPr/>
        </p:nvSpPr>
        <p:spPr>
          <a:xfrm>
            <a:off x="6318605" y="2298270"/>
            <a:ext cx="2019258" cy="7452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XGBOOST</a:t>
            </a:r>
            <a:endParaRPr lang="es-ES" dirty="0"/>
          </a:p>
        </p:txBody>
      </p:sp>
      <p:sp>
        <p:nvSpPr>
          <p:cNvPr id="15" name="12 CuadroTexto"/>
          <p:cNvSpPr txBox="1"/>
          <p:nvPr/>
        </p:nvSpPr>
        <p:spPr>
          <a:xfrm>
            <a:off x="645707" y="567348"/>
            <a:ext cx="715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 smtClean="0"/>
              <a:t>11.- Uso de modelos de machine </a:t>
            </a:r>
            <a:r>
              <a:rPr lang="es-ES" b="1" dirty="0" err="1" smtClean="0"/>
              <a:t>learning</a:t>
            </a:r>
            <a:endParaRPr lang="es-ES" b="1" dirty="0"/>
          </a:p>
        </p:txBody>
      </p:sp>
      <p:sp>
        <p:nvSpPr>
          <p:cNvPr id="8" name="Rectángulo 7"/>
          <p:cNvSpPr/>
          <p:nvPr/>
        </p:nvSpPr>
        <p:spPr>
          <a:xfrm>
            <a:off x="3182490" y="3729820"/>
            <a:ext cx="2499435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Grid Search (GS)</a:t>
            </a:r>
          </a:p>
        </p:txBody>
      </p:sp>
      <p:cxnSp>
        <p:nvCxnSpPr>
          <p:cNvPr id="16" name="Conector recto de flecha 15"/>
          <p:cNvCxnSpPr>
            <a:stCxn id="2" idx="2"/>
            <a:endCxn id="3" idx="0"/>
          </p:cNvCxnSpPr>
          <p:nvPr/>
        </p:nvCxnSpPr>
        <p:spPr>
          <a:xfrm flipH="1">
            <a:off x="1714644" y="1657375"/>
            <a:ext cx="2707539" cy="682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stCxn id="2" idx="2"/>
            <a:endCxn id="11" idx="0"/>
          </p:cNvCxnSpPr>
          <p:nvPr/>
        </p:nvCxnSpPr>
        <p:spPr>
          <a:xfrm>
            <a:off x="4422183" y="1657375"/>
            <a:ext cx="10025" cy="669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2" idx="2"/>
            <a:endCxn id="12" idx="0"/>
          </p:cNvCxnSpPr>
          <p:nvPr/>
        </p:nvCxnSpPr>
        <p:spPr>
          <a:xfrm>
            <a:off x="4422183" y="1657375"/>
            <a:ext cx="2906051" cy="640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>
            <a:stCxn id="3" idx="2"/>
            <a:endCxn id="8" idx="0"/>
          </p:cNvCxnSpPr>
          <p:nvPr/>
        </p:nvCxnSpPr>
        <p:spPr>
          <a:xfrm>
            <a:off x="1714644" y="3084802"/>
            <a:ext cx="2717564" cy="645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>
            <a:endCxn id="8" idx="0"/>
          </p:cNvCxnSpPr>
          <p:nvPr/>
        </p:nvCxnSpPr>
        <p:spPr>
          <a:xfrm flipH="1">
            <a:off x="4432208" y="3056325"/>
            <a:ext cx="2917277" cy="673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>
            <a:stCxn id="11" idx="2"/>
            <a:endCxn id="8" idx="0"/>
          </p:cNvCxnSpPr>
          <p:nvPr/>
        </p:nvCxnSpPr>
        <p:spPr>
          <a:xfrm>
            <a:off x="4432208" y="3071672"/>
            <a:ext cx="0" cy="6581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49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23/32</a:t>
            </a:r>
          </a:p>
        </p:txBody>
      </p:sp>
      <p:sp>
        <p:nvSpPr>
          <p:cNvPr id="15" name="12 CuadroTexto"/>
          <p:cNvSpPr txBox="1"/>
          <p:nvPr/>
        </p:nvSpPr>
        <p:spPr>
          <a:xfrm>
            <a:off x="645707" y="567348"/>
            <a:ext cx="715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 smtClean="0"/>
              <a:t>11.- Rejillas de búsqueda</a:t>
            </a:r>
            <a:endParaRPr lang="es-ES" b="1" dirty="0"/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012223"/>
              </p:ext>
            </p:extLst>
          </p:nvPr>
        </p:nvGraphicFramePr>
        <p:xfrm>
          <a:off x="776179" y="1203598"/>
          <a:ext cx="2643694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9557">
                  <a:extLst>
                    <a:ext uri="{9D8B030D-6E8A-4147-A177-3AD203B41FA5}">
                      <a16:colId xmlns:a16="http://schemas.microsoft.com/office/drawing/2014/main" val="4099159272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2905746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Random Forest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Parámetro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Valores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46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n_estimators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50, 100, 200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max_depth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None</a:t>
                      </a:r>
                      <a:r>
                        <a:rPr lang="es-ES" sz="1100" dirty="0" smtClean="0"/>
                        <a:t>, 10, 20, 30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98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min_samples_split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2, 5, 10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5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min_samples_leaf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1, 2, 4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44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bootstrap</a:t>
                      </a:r>
                      <a:r>
                        <a:rPr lang="es-ES" sz="1100" dirty="0" smtClean="0"/>
                        <a:t> 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True, False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10751"/>
                  </a:ext>
                </a:extLst>
              </a:tr>
            </a:tbl>
          </a:graphicData>
        </a:graphic>
      </p:graphicFrame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37172"/>
              </p:ext>
            </p:extLst>
          </p:nvPr>
        </p:nvGraphicFramePr>
        <p:xfrm>
          <a:off x="3635896" y="1267222"/>
          <a:ext cx="2643694" cy="25716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9557">
                  <a:extLst>
                    <a:ext uri="{9D8B030D-6E8A-4147-A177-3AD203B41FA5}">
                      <a16:colId xmlns:a16="http://schemas.microsoft.com/office/drawing/2014/main" val="4099159272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290574687"/>
                    </a:ext>
                  </a:extLst>
                </a:gridCol>
              </a:tblGrid>
              <a:tr h="34663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Decision Tree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Parámetro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Valores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46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criterion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gini</a:t>
                      </a:r>
                      <a:r>
                        <a:rPr lang="es-ES" sz="1100" dirty="0" smtClean="0"/>
                        <a:t>, </a:t>
                      </a:r>
                      <a:r>
                        <a:rPr lang="es-ES" sz="1100" dirty="0" err="1" smtClean="0"/>
                        <a:t>entropy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max_depth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None</a:t>
                      </a:r>
                      <a:r>
                        <a:rPr lang="es-ES" sz="1100" dirty="0" smtClean="0"/>
                        <a:t>, 10, 20, 30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98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min_samples_split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2, 5, 10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5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min_samples_leaf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1, 2, 4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44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bootstrap</a:t>
                      </a:r>
                      <a:r>
                        <a:rPr lang="es-ES" sz="1100" dirty="0" smtClean="0"/>
                        <a:t> 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True, False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10751"/>
                  </a:ext>
                </a:extLst>
              </a:tr>
            </a:tbl>
          </a:graphicData>
        </a:graphic>
      </p:graphicFrame>
      <p:graphicFrame>
        <p:nvGraphicFramePr>
          <p:cNvPr id="22" name="Tabl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23937"/>
              </p:ext>
            </p:extLst>
          </p:nvPr>
        </p:nvGraphicFramePr>
        <p:xfrm>
          <a:off x="6392802" y="1255119"/>
          <a:ext cx="2643694" cy="29425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9557">
                  <a:extLst>
                    <a:ext uri="{9D8B030D-6E8A-4147-A177-3AD203B41FA5}">
                      <a16:colId xmlns:a16="http://schemas.microsoft.com/office/drawing/2014/main" val="4099159272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290574687"/>
                    </a:ext>
                  </a:extLst>
                </a:gridCol>
              </a:tblGrid>
              <a:tr h="34663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XGBOOST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Parámetro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/>
                        <a:t>Valores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46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n_estimators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100, 200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max_depth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3, 5, 7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98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/>
                        <a:t>learning_rate</a:t>
                      </a:r>
                      <a:r>
                        <a:rPr lang="es-ES" sz="1100" dirty="0" smtClean="0"/>
                        <a:t> 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0.01, 0.1, 0.2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5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subsample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0.8, 1.0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44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 </a:t>
                      </a:r>
                      <a:r>
                        <a:rPr lang="es-ES" sz="1100" dirty="0" err="1" smtClean="0"/>
                        <a:t>colsample_bytree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0.8, 1.0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1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0, 1, 5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80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71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1042015" y="727558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 smtClean="0"/>
              <a:t>12.- Evaluar y seleccionar el mejor modelo.</a:t>
            </a:r>
            <a:endParaRPr lang="en-US" sz="2400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24/32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441549" y="1381849"/>
                <a:ext cx="2606996" cy="406906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49" y="1381849"/>
                <a:ext cx="2606996" cy="406906"/>
              </a:xfrm>
              <a:prstGeom prst="rect">
                <a:avLst/>
              </a:prstGeom>
              <a:blipFill>
                <a:blip r:embed="rId2"/>
                <a:stretch>
                  <a:fillRect l="-2791" b="-11765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4" y="3275972"/>
            <a:ext cx="2092711" cy="14216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2635676" y="3726734"/>
                <a:ext cx="825739" cy="465127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ES" sz="15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76" y="3726734"/>
                <a:ext cx="825739" cy="4651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/>
              <p:cNvSpPr txBox="1"/>
              <p:nvPr/>
            </p:nvSpPr>
            <p:spPr>
              <a:xfrm>
                <a:off x="4055944" y="3714839"/>
                <a:ext cx="801693" cy="465127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944" y="3714839"/>
                <a:ext cx="801693" cy="465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/>
              <p:cNvSpPr txBox="1"/>
              <p:nvPr/>
            </p:nvSpPr>
            <p:spPr>
              <a:xfrm>
                <a:off x="5196089" y="3714839"/>
                <a:ext cx="2003818" cy="508985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2∗</m:t>
                      </m:r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s-ES" sz="1500" dirty="0"/>
              </a:p>
            </p:txBody>
          </p:sp>
        </mc:Choice>
        <mc:Fallback xmlns="">
          <p:sp>
            <p:nvSpPr>
              <p:cNvPr id="15" name="Cuadro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089" y="3714839"/>
                <a:ext cx="2003818" cy="5089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/>
          <p:cNvSpPr txBox="1"/>
          <p:nvPr/>
        </p:nvSpPr>
        <p:spPr>
          <a:xfrm>
            <a:off x="444184" y="2518584"/>
            <a:ext cx="1797030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Confusion Matrix</a:t>
            </a:r>
            <a:endParaRPr lang="es-E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681875" y="2518584"/>
            <a:ext cx="733342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Recall</a:t>
            </a:r>
            <a:endParaRPr lang="es-E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3940366" y="2518584"/>
            <a:ext cx="1032848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Precision</a:t>
            </a:r>
            <a:endParaRPr lang="es-ES" dirty="0"/>
          </a:p>
        </p:txBody>
      </p:sp>
      <p:sp>
        <p:nvSpPr>
          <p:cNvPr id="18" name="CuadroTexto 17"/>
          <p:cNvSpPr txBox="1"/>
          <p:nvPr/>
        </p:nvSpPr>
        <p:spPr>
          <a:xfrm>
            <a:off x="5700970" y="2522568"/>
            <a:ext cx="994055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F1-Score</a:t>
            </a:r>
            <a:endParaRPr lang="es-ES" dirty="0"/>
          </a:p>
        </p:txBody>
      </p:sp>
      <p:cxnSp>
        <p:nvCxnSpPr>
          <p:cNvPr id="39" name="Conector recto 38"/>
          <p:cNvCxnSpPr>
            <a:stCxn id="16" idx="2"/>
            <a:endCxn id="3" idx="0"/>
          </p:cNvCxnSpPr>
          <p:nvPr/>
        </p:nvCxnSpPr>
        <p:spPr>
          <a:xfrm>
            <a:off x="3048546" y="2887916"/>
            <a:ext cx="0" cy="8388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>
            <a:stCxn id="17" idx="2"/>
            <a:endCxn id="14" idx="0"/>
          </p:cNvCxnSpPr>
          <p:nvPr/>
        </p:nvCxnSpPr>
        <p:spPr>
          <a:xfrm>
            <a:off x="4456790" y="2887916"/>
            <a:ext cx="1" cy="82692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>
            <a:stCxn id="18" idx="2"/>
            <a:endCxn id="15" idx="0"/>
          </p:cNvCxnSpPr>
          <p:nvPr/>
        </p:nvCxnSpPr>
        <p:spPr>
          <a:xfrm>
            <a:off x="6197998" y="2891900"/>
            <a:ext cx="0" cy="8229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>
            <a:stCxn id="12" idx="2"/>
            <a:endCxn id="2" idx="0"/>
          </p:cNvCxnSpPr>
          <p:nvPr/>
        </p:nvCxnSpPr>
        <p:spPr>
          <a:xfrm>
            <a:off x="1342699" y="2887916"/>
            <a:ext cx="1861" cy="38805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/>
          <p:nvPr/>
        </p:nvCxnSpPr>
        <p:spPr>
          <a:xfrm>
            <a:off x="1342699" y="1788755"/>
            <a:ext cx="0" cy="7298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>
            <a:stCxn id="12" idx="3"/>
            <a:endCxn id="16" idx="1"/>
          </p:cNvCxnSpPr>
          <p:nvPr/>
        </p:nvCxnSpPr>
        <p:spPr>
          <a:xfrm>
            <a:off x="2241214" y="2703250"/>
            <a:ext cx="44066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>
            <a:stCxn id="16" idx="3"/>
            <a:endCxn id="17" idx="1"/>
          </p:cNvCxnSpPr>
          <p:nvPr/>
        </p:nvCxnSpPr>
        <p:spPr>
          <a:xfrm>
            <a:off x="3415217" y="2703250"/>
            <a:ext cx="5251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>
            <a:stCxn id="17" idx="3"/>
            <a:endCxn id="18" idx="1"/>
          </p:cNvCxnSpPr>
          <p:nvPr/>
        </p:nvCxnSpPr>
        <p:spPr>
          <a:xfrm>
            <a:off x="4973214" y="2703250"/>
            <a:ext cx="727756" cy="39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81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5185" y="41151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9947" y="1275606"/>
            <a:ext cx="8229600" cy="31029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Results and Discussion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Conclusions and Future Work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25/32</a:t>
            </a:r>
          </a:p>
        </p:txBody>
      </p:sp>
    </p:spTree>
    <p:extLst>
      <p:ext uri="{BB962C8B-B14F-4D97-AF65-F5344CB8AC3E}">
        <p14:creationId xmlns:p14="http://schemas.microsoft.com/office/powerpoint/2010/main" val="8815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859239" y="820007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Random Forest</a:t>
            </a:r>
            <a:endParaRPr lang="en-US" sz="2400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26</a:t>
            </a:r>
            <a:r>
              <a:rPr lang="en-US" dirty="0"/>
              <a:t>/32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782632"/>
              </p:ext>
            </p:extLst>
          </p:nvPr>
        </p:nvGraphicFramePr>
        <p:xfrm>
          <a:off x="2754040" y="1660233"/>
          <a:ext cx="187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51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97648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Métrica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0,76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0,76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0,76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90712"/>
              </p:ext>
            </p:extLst>
          </p:nvPr>
        </p:nvGraphicFramePr>
        <p:xfrm>
          <a:off x="165626" y="1660233"/>
          <a:ext cx="237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86383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bootstrap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max_depth</a:t>
                      </a:r>
                      <a:endParaRPr 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min_samples_leaf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min_samples_split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n_estimators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97760"/>
                  </a:ext>
                </a:extLst>
              </a:tr>
            </a:tbl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641" y="1464282"/>
            <a:ext cx="4101075" cy="30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8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859239" y="820007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Decision Tree</a:t>
            </a:r>
            <a:endParaRPr lang="en-US" sz="2400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27/32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813600"/>
              </p:ext>
            </p:extLst>
          </p:nvPr>
        </p:nvGraphicFramePr>
        <p:xfrm>
          <a:off x="2754040" y="1660233"/>
          <a:ext cx="187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51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97648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Métrica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0,68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0,68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0,67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19038"/>
              </p:ext>
            </p:extLst>
          </p:nvPr>
        </p:nvGraphicFramePr>
        <p:xfrm>
          <a:off x="165626" y="1660233"/>
          <a:ext cx="237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86383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criterion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max_depth</a:t>
                      </a:r>
                      <a:endParaRPr 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min_samples_leaf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min_samples_split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</a:tbl>
          </a:graphicData>
        </a:graphic>
      </p:graphicFrame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732" y="1281672"/>
            <a:ext cx="4149080" cy="31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9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859239" y="820007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XGBOOST</a:t>
            </a:r>
            <a:endParaRPr lang="en-US" sz="2400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28/32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471386"/>
              </p:ext>
            </p:extLst>
          </p:nvPr>
        </p:nvGraphicFramePr>
        <p:xfrm>
          <a:off x="2754040" y="1660233"/>
          <a:ext cx="187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51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97648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Métrica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0,73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s-E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240112"/>
              </p:ext>
            </p:extLst>
          </p:nvPr>
        </p:nvGraphicFramePr>
        <p:xfrm>
          <a:off x="165626" y="1660233"/>
          <a:ext cx="2376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627797891"/>
                    </a:ext>
                  </a:extLst>
                </a:gridCol>
                <a:gridCol w="863832">
                  <a:extLst>
                    <a:ext uri="{9D8B030D-6E8A-4147-A177-3AD203B41FA5}">
                      <a16:colId xmlns:a16="http://schemas.microsoft.com/office/drawing/2014/main" val="53180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Parametro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</a:t>
                      </a:r>
                      <a:endParaRPr lang="es-E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9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colsample_bytree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  <a:endParaRPr lang="es-E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5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max_depth</a:t>
                      </a:r>
                      <a:endParaRPr 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3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Gamma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learning_rate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4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n_estimators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9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subsample</a:t>
                      </a:r>
                      <a:r>
                        <a:rPr lang="es-E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  <a:endParaRPr lang="es-E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6285"/>
                  </a:ext>
                </a:extLst>
              </a:tr>
            </a:tbl>
          </a:graphicData>
        </a:graphic>
      </p:graphicFrame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897" y="1348262"/>
            <a:ext cx="4293096" cy="32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3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5185" y="41151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9947" y="1275606"/>
            <a:ext cx="8229600" cy="31029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Conclusions and Future Work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29</a:t>
            </a:r>
            <a:r>
              <a:rPr lang="en-US" dirty="0"/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8815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>
            <a:hlinkClick r:id="rId2" action="ppaction://hlinksldjump"/>
          </p:cNvPr>
          <p:cNvSpPr txBox="1"/>
          <p:nvPr/>
        </p:nvSpPr>
        <p:spPr>
          <a:xfrm>
            <a:off x="165627" y="555526"/>
            <a:ext cx="879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Conclusions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30</a:t>
            </a:r>
            <a:r>
              <a:rPr lang="en-US" dirty="0"/>
              <a:t>/32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398600" y="2620980"/>
            <a:ext cx="793388" cy="7891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  <a:p>
            <a:pPr algn="ctr"/>
            <a:endParaRPr lang="en-US" sz="3200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4978846" y="980587"/>
            <a:ext cx="793388" cy="8415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  <a:p>
            <a:pPr algn="ctr"/>
            <a:endParaRPr lang="en-US" sz="3200" dirty="0"/>
          </a:p>
        </p:txBody>
      </p:sp>
      <p:sp>
        <p:nvSpPr>
          <p:cNvPr id="21" name="20 Rectángulo redondeado"/>
          <p:cNvSpPr/>
          <p:nvPr/>
        </p:nvSpPr>
        <p:spPr>
          <a:xfrm>
            <a:off x="398600" y="991575"/>
            <a:ext cx="793388" cy="8415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  <a:p>
            <a:pPr algn="ctr"/>
            <a:endParaRPr lang="en-US" sz="32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147872" y="1371421"/>
            <a:ext cx="4478383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El presente trabajo se centró en un objetivo general: </a:t>
            </a:r>
            <a:r>
              <a:rPr lang="es-ES" sz="1600" dirty="0" smtClean="0"/>
              <a:t>la clasificación del medio de transporte para </a:t>
            </a:r>
            <a:r>
              <a:rPr lang="es-ES" sz="1600" dirty="0"/>
              <a:t>su uso en modelos de demanda de transporte.</a:t>
            </a:r>
            <a:endParaRPr lang="en-US" sz="16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4773195" y="1363298"/>
            <a:ext cx="4197968" cy="13234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En términos </a:t>
            </a:r>
            <a:r>
              <a:rPr lang="es-ES" sz="1600" dirty="0" smtClean="0"/>
              <a:t>generales, </a:t>
            </a:r>
            <a:r>
              <a:rPr lang="es-ES" sz="1600" dirty="0"/>
              <a:t>podemos concluir que el modelo que más destacó fue </a:t>
            </a:r>
            <a:r>
              <a:rPr lang="es-ES" sz="1600" dirty="0" err="1"/>
              <a:t>Random</a:t>
            </a:r>
            <a:r>
              <a:rPr lang="es-ES" sz="1600" dirty="0"/>
              <a:t> </a:t>
            </a:r>
            <a:r>
              <a:rPr lang="es-ES" sz="1600" dirty="0" err="1"/>
              <a:t>Forest</a:t>
            </a:r>
            <a:r>
              <a:rPr lang="es-ES" sz="1600" dirty="0"/>
              <a:t> que aprovecha la naturaleza de su funcionamiento para destacar entre los demás modelos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47872" y="3113422"/>
            <a:ext cx="4483675" cy="10772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Por otra parte, en lo que respecta a las técnicas de ajuste de </a:t>
            </a:r>
            <a:r>
              <a:rPr lang="es-ES" sz="1600" dirty="0" err="1"/>
              <a:t>hiperparámetros</a:t>
            </a:r>
            <a:r>
              <a:rPr lang="es-ES" sz="1600" dirty="0"/>
              <a:t>, </a:t>
            </a:r>
            <a:r>
              <a:rPr lang="es-ES" sz="1600" dirty="0" smtClean="0"/>
              <a:t>la </a:t>
            </a:r>
            <a:r>
              <a:rPr lang="es-ES" sz="1600" dirty="0"/>
              <a:t>validación cruzada de búsqueda en </a:t>
            </a:r>
            <a:r>
              <a:rPr lang="es-ES" sz="1600" dirty="0" smtClean="0"/>
              <a:t>cuadrícula ayudo a obtener mejores resultados.</a:t>
            </a:r>
            <a:endParaRPr lang="en-US" sz="1600" dirty="0"/>
          </a:p>
        </p:txBody>
      </p:sp>
      <p:sp>
        <p:nvSpPr>
          <p:cNvPr id="23" name="15 Rectángulo redondeado"/>
          <p:cNvSpPr/>
          <p:nvPr/>
        </p:nvSpPr>
        <p:spPr>
          <a:xfrm>
            <a:off x="5023922" y="2767388"/>
            <a:ext cx="689756" cy="8384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  <a:p>
            <a:pPr algn="ctr"/>
            <a:endParaRPr lang="en-US" sz="3200" dirty="0"/>
          </a:p>
        </p:txBody>
      </p:sp>
      <p:sp>
        <p:nvSpPr>
          <p:cNvPr id="24" name="25 CuadroTexto"/>
          <p:cNvSpPr txBox="1"/>
          <p:nvPr/>
        </p:nvSpPr>
        <p:spPr>
          <a:xfrm>
            <a:off x="4773195" y="3438855"/>
            <a:ext cx="3898022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La </a:t>
            </a:r>
            <a:r>
              <a:rPr lang="en-US" sz="1600" dirty="0" err="1" smtClean="0"/>
              <a:t>clase</a:t>
            </a:r>
            <a:r>
              <a:rPr lang="en-US" sz="1600" dirty="0" smtClean="0"/>
              <a:t> </a:t>
            </a:r>
            <a:r>
              <a:rPr lang="en-US" sz="1600" dirty="0" err="1" smtClean="0"/>
              <a:t>minoritaria</a:t>
            </a:r>
            <a:r>
              <a:rPr lang="en-US" sz="1600" dirty="0" smtClean="0"/>
              <a:t> </a:t>
            </a:r>
            <a:r>
              <a:rPr lang="en-US" sz="1600" dirty="0" err="1" smtClean="0"/>
              <a:t>fue</a:t>
            </a:r>
            <a:r>
              <a:rPr lang="en-US" sz="1600" dirty="0" smtClean="0"/>
              <a:t> la que </a:t>
            </a:r>
            <a:r>
              <a:rPr lang="en-US" sz="1600" dirty="0" err="1" smtClean="0"/>
              <a:t>mejor</a:t>
            </a:r>
            <a:r>
              <a:rPr lang="en-US" sz="1600" dirty="0" smtClean="0"/>
              <a:t> se </a:t>
            </a:r>
            <a:r>
              <a:rPr lang="en-US" sz="1600" dirty="0" err="1" smtClean="0"/>
              <a:t>clasificó</a:t>
            </a:r>
            <a:r>
              <a:rPr lang="en-US" sz="1600" dirty="0" smtClean="0"/>
              <a:t> </a:t>
            </a:r>
            <a:r>
              <a:rPr lang="en-US" sz="1600" dirty="0" err="1" smtClean="0"/>
              <a:t>en</a:t>
            </a:r>
            <a:r>
              <a:rPr lang="en-US" sz="1600" dirty="0" smtClean="0"/>
              <a:t> </a:t>
            </a:r>
            <a:r>
              <a:rPr lang="en-US" sz="1600" dirty="0" err="1" smtClean="0"/>
              <a:t>los</a:t>
            </a:r>
            <a:r>
              <a:rPr lang="en-US" sz="1600" dirty="0" smtClean="0"/>
              <a:t> </a:t>
            </a:r>
            <a:r>
              <a:rPr lang="en-US" sz="1600" dirty="0" err="1" smtClean="0"/>
              <a:t>tres</a:t>
            </a:r>
            <a:r>
              <a:rPr lang="en-US" sz="1600" dirty="0" smtClean="0"/>
              <a:t> </a:t>
            </a:r>
            <a:r>
              <a:rPr lang="en-US" sz="1600" dirty="0" err="1" smtClean="0"/>
              <a:t>modelos</a:t>
            </a:r>
            <a:r>
              <a:rPr lang="en-US" sz="1600" dirty="0" smtClean="0"/>
              <a:t> </a:t>
            </a:r>
            <a:r>
              <a:rPr lang="en-US" sz="1600" dirty="0" err="1" smtClean="0"/>
              <a:t>ya</a:t>
            </a:r>
            <a:r>
              <a:rPr lang="en-US" sz="1600" dirty="0" smtClean="0"/>
              <a:t> que </a:t>
            </a:r>
            <a:r>
              <a:rPr lang="en-US" sz="1600" dirty="0" err="1" smtClean="0"/>
              <a:t>fue</a:t>
            </a:r>
            <a:r>
              <a:rPr lang="en-US" sz="1600" dirty="0" smtClean="0"/>
              <a:t> la </a:t>
            </a:r>
            <a:r>
              <a:rPr lang="en-US" sz="1600" dirty="0" err="1" smtClean="0"/>
              <a:t>clase</a:t>
            </a:r>
            <a:r>
              <a:rPr lang="en-US" sz="1600" dirty="0" smtClean="0"/>
              <a:t> que se </a:t>
            </a:r>
            <a:r>
              <a:rPr lang="en-US" sz="1600" dirty="0" err="1" smtClean="0"/>
              <a:t>reajusto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4349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 redondeado"/>
          <p:cNvSpPr/>
          <p:nvPr/>
        </p:nvSpPr>
        <p:spPr>
          <a:xfrm>
            <a:off x="1978412" y="3298503"/>
            <a:ext cx="793388" cy="8415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  <a:p>
            <a:pPr algn="ctr"/>
            <a:endParaRPr lang="en-US" sz="3200" dirty="0"/>
          </a:p>
        </p:txBody>
      </p:sp>
      <p:sp>
        <p:nvSpPr>
          <p:cNvPr id="23" name="22 Rectángulo redondeado"/>
          <p:cNvSpPr/>
          <p:nvPr/>
        </p:nvSpPr>
        <p:spPr>
          <a:xfrm>
            <a:off x="4993675" y="1265709"/>
            <a:ext cx="793388" cy="8415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  <a:p>
            <a:pPr algn="ctr"/>
            <a:endParaRPr lang="en-US" sz="3200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416354" y="1265710"/>
            <a:ext cx="793388" cy="8415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  <a:p>
            <a:pPr algn="ctr"/>
            <a:endParaRPr lang="en-US" sz="3200" dirty="0"/>
          </a:p>
        </p:txBody>
      </p:sp>
      <p:sp>
        <p:nvSpPr>
          <p:cNvPr id="4" name="3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Methodology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Conclusions &amp; Future work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763688" y="55552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Future Work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251519" y="1645556"/>
            <a:ext cx="4380028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Con un conjunto de datos limitado, podrían utilizarse modelos de aprendizaje automático para generar datos nuevos y </a:t>
            </a:r>
            <a:r>
              <a:rPr lang="es-ES" dirty="0" smtClean="0"/>
              <a:t>realistas.</a:t>
            </a:r>
            <a:endParaRPr lang="en-U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4788024" y="1648420"/>
            <a:ext cx="4197968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Por otro lado, al tener un conjunto de datos no </a:t>
            </a:r>
            <a:r>
              <a:rPr lang="es-ES" dirty="0" smtClean="0"/>
              <a:t>balanceados, </a:t>
            </a:r>
            <a:r>
              <a:rPr lang="es-ES" dirty="0"/>
              <a:t>se podrían explorar diferentes técnicas de balanceo de datos para obtener resultados más consistentes.</a:t>
            </a:r>
            <a:endParaRPr lang="en-US" dirty="0"/>
          </a:p>
        </p:txBody>
      </p:sp>
      <p:sp>
        <p:nvSpPr>
          <p:cNvPr id="19" name="18 CuadroTexto"/>
          <p:cNvSpPr txBox="1"/>
          <p:nvPr/>
        </p:nvSpPr>
        <p:spPr>
          <a:xfrm>
            <a:off x="1763688" y="3671720"/>
            <a:ext cx="5256584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Por último, realizar el mismo estudio pero en otra zona de Ecuador donde se pudiera acceder a la información.</a:t>
            </a:r>
            <a:endParaRPr lang="en-US" dirty="0"/>
          </a:p>
        </p:txBody>
      </p:sp>
      <p:sp>
        <p:nvSpPr>
          <p:cNvPr id="20" name="19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31/32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3491880" y="482416"/>
            <a:ext cx="2088232" cy="2160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Santiago Ajala| 2025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 Yachay Tech University</a:t>
            </a:r>
          </a:p>
        </p:txBody>
      </p:sp>
      <p:sp>
        <p:nvSpPr>
          <p:cNvPr id="8" name="7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Introduction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Methodology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Conclusions &amp; Future work</a:t>
            </a:r>
          </a:p>
        </p:txBody>
      </p:sp>
      <p:sp>
        <p:nvSpPr>
          <p:cNvPr id="2" name="1 Rectángulo"/>
          <p:cNvSpPr/>
          <p:nvPr/>
        </p:nvSpPr>
        <p:spPr>
          <a:xfrm>
            <a:off x="539553" y="1131590"/>
            <a:ext cx="8100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[1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] 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LlactaLAB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“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Gad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municipal de cuenca (2016) encuesta de movilidad de hogares,”2024, 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accessed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2024-08-02. [Online]. 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Available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3"/>
              </a:rPr>
              <a:t>https://llactalab.ucuenca.edu.ec</a:t>
            </a:r>
            <a:r>
              <a:rPr kumimoji="0" lang="es-E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3"/>
              </a:rPr>
              <a:t>/</a:t>
            </a:r>
            <a:endParaRPr kumimoji="0" lang="es-E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smtClean="0"/>
              <a:t>[2] </a:t>
            </a:r>
            <a:r>
              <a:rPr lang="en-US" sz="1600" dirty="0" err="1" smtClean="0"/>
              <a:t>Scikit</a:t>
            </a:r>
            <a:r>
              <a:rPr lang="en-US" sz="1600" dirty="0" smtClean="0"/>
              <a:t>-learn </a:t>
            </a:r>
            <a:r>
              <a:rPr lang="en-US" sz="1600" dirty="0"/>
              <a:t>developers. (</a:t>
            </a:r>
            <a:r>
              <a:rPr lang="en-US" sz="1600" dirty="0" err="1"/>
              <a:t>n.d.</a:t>
            </a:r>
            <a:r>
              <a:rPr lang="en-US" sz="1600" dirty="0"/>
              <a:t>). </a:t>
            </a:r>
            <a:r>
              <a:rPr lang="en-US" sz="1600" i="1" dirty="0" err="1"/>
              <a:t>Scikit</a:t>
            </a:r>
            <a:r>
              <a:rPr lang="en-US" sz="1600" i="1" dirty="0"/>
              <a:t>-learn: Machine learning in Python</a:t>
            </a:r>
            <a:r>
              <a:rPr lang="en-US" sz="1600" dirty="0" smtClean="0"/>
              <a:t>.</a:t>
            </a:r>
            <a:r>
              <a:rPr lang="es-ES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s-ES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 smtClean="0"/>
              <a:t> </a:t>
            </a:r>
            <a:r>
              <a:rPr lang="en-US" sz="1600" dirty="0">
                <a:hlinkClick r:id="rId4"/>
              </a:rPr>
              <a:t>https://scikit-learn.org/stable/</a:t>
            </a:r>
            <a:endParaRPr kumimoji="0" lang="es-E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8244408" y="47319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prstClr val="black"/>
                </a:solidFill>
                <a:latin typeface="Calibri"/>
              </a:rPr>
              <a:t>32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/32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6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2267744" y="4722698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Santiago Ajala| 2025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Yachay Tech University</a:t>
            </a:r>
          </a:p>
        </p:txBody>
      </p:sp>
      <p:sp>
        <p:nvSpPr>
          <p:cNvPr id="8" name="7 Rectángulo"/>
          <p:cNvSpPr/>
          <p:nvPr/>
        </p:nvSpPr>
        <p:spPr>
          <a:xfrm>
            <a:off x="165626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Introduction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2390915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Methodology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4631547" y="123478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Results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6872179" y="120080"/>
            <a:ext cx="2088232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Conclusions &amp; Future work</a:t>
            </a:r>
          </a:p>
        </p:txBody>
      </p:sp>
      <p:pic>
        <p:nvPicPr>
          <p:cNvPr id="1026" name="Picture 2" descr="5+ Thousand Any Questions Royalty-Free Images, Stock Photos &amp; Pictures | 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13" y="1123592"/>
            <a:ext cx="4206909" cy="281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1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6588</TotalTime>
  <Words>1997</Words>
  <Application>Microsoft Office PowerPoint</Application>
  <PresentationFormat>Presentación en pantalla (16:9)</PresentationFormat>
  <Paragraphs>527</Paragraphs>
  <Slides>33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Wingdings</vt:lpstr>
      <vt:lpstr>Tema de Office</vt:lpstr>
      <vt:lpstr>Classification of means of transport using machine learning techniques</vt:lpstr>
      <vt:lpstr>Overview</vt:lpstr>
      <vt:lpstr>Overview</vt:lpstr>
      <vt:lpstr>Presentación de PowerPoint</vt:lpstr>
      <vt:lpstr>Presentación de PowerPoint</vt:lpstr>
      <vt:lpstr>Overview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Overview</vt:lpstr>
      <vt:lpstr>Presentación de PowerPoint</vt:lpstr>
      <vt:lpstr>Presentación de PowerPoint</vt:lpstr>
      <vt:lpstr>Presentación de PowerPoint</vt:lpstr>
      <vt:lpstr>Overview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ANDROID SOLUCIONES</dc:creator>
  <cp:lastModifiedBy>Santiago Ajala</cp:lastModifiedBy>
  <cp:revision>290</cp:revision>
  <dcterms:created xsi:type="dcterms:W3CDTF">2023-10-11T03:46:18Z</dcterms:created>
  <dcterms:modified xsi:type="dcterms:W3CDTF">2025-05-03T04:07:10Z</dcterms:modified>
</cp:coreProperties>
</file>